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embeddedFontLst>
    <p:embeddedFont>
      <p:font typeface="Inter SemiBold"/>
      <p:regular r:id="rId201314"/>
    </p:embeddedFont>
    <p:embeddedFont>
      <p:font typeface="Inter Bold"/>
      <p:regular r:id="rId201315"/>
    </p:embeddedFont>
    <p:embeddedFont>
      <p:font typeface="Inter"/>
      <p:regular r:id="rId201316"/>
    </p:embeddedFont>
    <p:embeddedFont>
      <p:font typeface="Space Grotesk Bold"/>
      <p:regular r:id="rId2013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Judges, every day Indian doctors paste patient notes and prescription photos into ChatGPT, and every prompt is an illegal breach; MediCloak is an invisible shield that neutralizes identity before packets leave hospital soil.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Bans don't protect privacy, they blind the CISO; the real crisis is photos of lab slips.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Google DLP and AWS Macie blindly redact city names in "Madras Eye" and "Jaipur Foot", the AI hallucinates; the Dual-Pass Whitelist is built for Indian clinical reality.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other tool forgets the doctor; exposing a signature and seal is a DPDP violation; we strip both and keep every diagnostic number.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False positives fail emergency medicine; D5 Verhoeff verifies Aadhaar with 100% precision.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CISOs get an air-traffic-control view with live threats, shadow-AI topology and one-click prompt and image diff audit.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Eight real workflows from AIIMS to Tata Memorial: 14.2 ms, zero installs, 100% meaning preserved.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Enough talk; on my left a doctor using ChatGPT, on my right MediCloak; I'll upload a critical report and show the cloak live.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80C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585" y="1484709"/>
            <a:ext cx="1741642" cy="214412"/>
          </a:xfrm>
          <a:prstGeom prst="roundRect">
            <a:avLst>
              <a:gd name="adj" fmla="val 49999"/>
            </a:avLst>
          </a:prstGeom>
          <a:noFill/>
          <a:ln w="635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0232" y="1513877"/>
            <a:ext cx="2109933" cy="1636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00" dirty="0">
                <a:solidFill>
                  <a:srgbClr val="00F0FF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IN-FLIGHT GUARDIAN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09585" y="1885494"/>
            <a:ext cx="5821614" cy="626070"/>
          </a:xfrm>
          <a:prstGeom prst="rect">
            <a:avLst/>
          </a:prstGeom>
          <a:noFill/>
          <a:ln/>
        </p:spPr>
        <p:txBody>
          <a:bodyPr wrap="none" lIns="0" tIns="0" rIns="0" bIns="76198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800" b="1" spc="-38" kern="100" dirty="0">
                <a:solidFill>
                  <a:srgbClr val="F4F8FB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0"/>
              </a:rPr>
              <a:t>MEDICLOAK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609585" y="2693492"/>
            <a:ext cx="5821614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000" spc="-20" kern="100" dirty="0">
                <a:solidFill>
                  <a:srgbClr val="F4F8FB"/>
                </a:solidFill>
                <a:latin typeface="Inter SemiBold" pitchFamily="34" charset="0"/>
                <a:ea typeface="Inter SemiBold" pitchFamily="34" charset="-122"/>
                <a:cs typeface="Inter SemiBold" pitchFamily="34" charset="0"/>
              </a:rPr>
              <a:t>THE 14.2 MILLISECOND GUARDIAN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609585" y="3188791"/>
            <a:ext cx="5821614" cy="2184400"/>
          </a:xfrm>
          <a:prstGeom prst="roundRect">
            <a:avLst>
              <a:gd name="adj" fmla="val 8372"/>
            </a:avLst>
          </a:prstGeom>
          <a:solidFill>
            <a:srgbClr val="111A26"/>
          </a:solidFill>
          <a:ln w="6350">
            <a:solidFill>
              <a:srgbClr val="00F0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6430" y="3347541"/>
            <a:ext cx="5427924" cy="1866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1000"/>
              </a:spcAft>
              <a:buNone/>
            </a:pPr>
            <a:r>
              <a:rPr lang="en-US" sz="2800" dirty="0">
                <a:solidFill>
                  <a:srgbClr val="00F0FF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14.2 ms</a:t>
            </a:r>
            <a:pPr algn="l" indent="0" marL="0">
              <a:lnSpc>
                <a:spcPct val="125000"/>
              </a:lnSpc>
              <a:spcAft>
                <a:spcPts val="1000"/>
              </a:spcAft>
              <a:buNone/>
            </a:pPr>
            <a:r>
              <a:rPr lang="en-US" sz="1400" dirty="0">
                <a:solidFill>
                  <a:srgbClr val="C3CEDA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 — Average in-flight scrubbing latency</a:t>
            </a:r>
            <a:endParaRPr lang="en-US" sz="1400" dirty="0"/>
          </a:p>
          <a:p>
            <a:pPr algn="l" indent="0" marL="0">
              <a:lnSpc>
                <a:spcPct val="125000"/>
              </a:lnSpc>
              <a:spcAft>
                <a:spcPts val="1000"/>
              </a:spcAft>
              <a:buNone/>
            </a:pPr>
            <a:r>
              <a:rPr lang="en-US" sz="2800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0 bytes</a:t>
            </a:r>
            <a:pPr algn="l" indent="0" marL="0">
              <a:lnSpc>
                <a:spcPct val="125000"/>
              </a:lnSpc>
              <a:spcAft>
                <a:spcPts val="1000"/>
              </a:spcAft>
              <a:buNone/>
            </a:pPr>
            <a:r>
              <a:rPr lang="en-US" sz="1400" dirty="0">
                <a:solidFill>
                  <a:srgbClr val="C3CEDA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 — Unredacted data exfiltrated to AI cloud</a:t>
            </a:r>
            <a:endParaRPr lang="en-US" sz="14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800" dirty="0">
                <a:solidFill>
                  <a:srgbClr val="FF3366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₹250 Cr</a:t>
            </a:r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3CEDA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 — Statutory liability neutralized (DPDPA 2023)</a:t>
            </a:r>
            <a:endParaRPr lang="en-US" sz="14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07457" y="609600"/>
            <a:ext cx="3474653" cy="5638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585" y="634802"/>
            <a:ext cx="1607800" cy="214412"/>
          </a:xfrm>
          <a:prstGeom prst="roundRect">
            <a:avLst>
              <a:gd name="adj" fmla="val 49999"/>
            </a:avLst>
          </a:prstGeom>
          <a:noFill/>
          <a:ln w="6350">
            <a:solidFill>
              <a:srgbClr val="FF33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0232" y="663969"/>
            <a:ext cx="1976090" cy="1636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00" dirty="0">
                <a:solidFill>
                  <a:srgbClr val="00F0FF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THE BYPASS CRISIS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09585" y="1029342"/>
            <a:ext cx="4256973" cy="989211"/>
          </a:xfrm>
          <a:prstGeom prst="rect">
            <a:avLst/>
          </a:prstGeom>
          <a:noFill/>
          <a:ln/>
        </p:spPr>
        <p:txBody>
          <a:bodyPr wrap="square" lIns="0" tIns="0" rIns="0" bIns="76198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b="1" spc="-32" kern="100" dirty="0">
                <a:solidFill>
                  <a:srgbClr val="F4F8FB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0"/>
              </a:rPr>
              <a:t>THE SHADOW AI PARADOX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09585" y="2216249"/>
            <a:ext cx="4866558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3CEDA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Firewalls don't stop doctors, they just blind you.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09585" y="2635349"/>
            <a:ext cx="4256973" cy="1717675"/>
          </a:xfrm>
          <a:prstGeom prst="rect">
            <a:avLst/>
          </a:prstGeom>
          <a:solidFill>
            <a:srgbClr val="111A26"/>
          </a:solidFill>
          <a:ln w="6350">
            <a:solidFill>
              <a:srgbClr val="00F0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6430" y="2796480"/>
            <a:ext cx="4060128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spc="105" kern="100" dirty="0">
                <a:solidFill>
                  <a:srgbClr val="FF3366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DNS BAN FAILURE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06430" y="3132237"/>
            <a:ext cx="3863283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3800" b="1" spc="-38" kern="100" dirty="0">
                <a:solidFill>
                  <a:srgbClr val="C3CED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0"/>
              </a:rPr>
              <a:t>72</a:t>
            </a:r>
            <a:pPr algn="l" indent="0" marL="0">
              <a:lnSpc>
                <a:spcPct val="83000"/>
              </a:lnSpc>
              <a:buNone/>
            </a:pPr>
            <a:r>
              <a:rPr lang="en-US" sz="2000" b="1" spc="-38" kern="100" dirty="0">
                <a:solidFill>
                  <a:srgbClr val="C3CED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0"/>
              </a:rPr>
              <a:t>%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806430" y="3796605"/>
            <a:ext cx="3863283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C3CEDA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of clinicians bypass DNS bans; bans create unmonitored shadow channels.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09585" y="4505424"/>
            <a:ext cx="4256973" cy="1717675"/>
          </a:xfrm>
          <a:prstGeom prst="rect">
            <a:avLst/>
          </a:prstGeom>
          <a:solidFill>
            <a:srgbClr val="111A26"/>
          </a:solidFill>
          <a:ln w="6350">
            <a:solidFill>
              <a:srgbClr val="00F0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6430" y="4666555"/>
            <a:ext cx="4060128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spc="105" kern="100" dirty="0">
                <a:solidFill>
                  <a:srgbClr val="00F0FF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MULTI-MODAL LEAK SURGE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06430" y="5002312"/>
            <a:ext cx="3863283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3800" b="1" spc="-38" kern="100" dirty="0">
                <a:solidFill>
                  <a:srgbClr val="C3CED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0"/>
              </a:rPr>
              <a:t>60</a:t>
            </a:r>
            <a:pPr algn="l" indent="0" marL="0">
              <a:lnSpc>
                <a:spcPct val="83000"/>
              </a:lnSpc>
              <a:buNone/>
            </a:pPr>
            <a:r>
              <a:rPr lang="en-US" sz="2000" b="1" spc="-38" kern="100" dirty="0">
                <a:solidFill>
                  <a:srgbClr val="C3CED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0"/>
              </a:rPr>
              <a:t>%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806430" y="5666680"/>
            <a:ext cx="3863283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C3CEDA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of leaks are photos of prescriptions, biopsy scans and ECG slips.</a:t>
            </a:r>
            <a:endParaRPr lang="en-US" sz="105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42817" y="609600"/>
            <a:ext cx="5039293" cy="5638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585" y="1184176"/>
            <a:ext cx="2700667" cy="214412"/>
          </a:xfrm>
          <a:prstGeom prst="roundRect">
            <a:avLst>
              <a:gd name="adj" fmla="val 49999"/>
            </a:avLst>
          </a:prstGeom>
          <a:noFill/>
          <a:ln w="6350">
            <a:solidFill>
              <a:srgbClr val="FF33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0232" y="1213344"/>
            <a:ext cx="3068958" cy="1636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00" dirty="0">
                <a:solidFill>
                  <a:srgbClr val="00F0FF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CLINICAL CONTEXT PRESERVATION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09585" y="1549400"/>
            <a:ext cx="10972526" cy="514350"/>
          </a:xfrm>
          <a:prstGeom prst="rect">
            <a:avLst/>
          </a:prstGeom>
          <a:noFill/>
          <a:ln/>
        </p:spPr>
        <p:txBody>
          <a:bodyPr wrap="none" lIns="0" tIns="0" rIns="0" bIns="76198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000" b="1" spc="-30" kern="100" dirty="0">
                <a:solidFill>
                  <a:srgbClr val="F4F8FB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0"/>
              </a:rPr>
              <a:t>WHY BIG TECH DLP FAILS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09585" y="2265363"/>
            <a:ext cx="1158211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3CEDA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Naive redaction erases medical reality and causes dangerous diagnostic hallucinations.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09585" y="2709863"/>
            <a:ext cx="5333867" cy="2963962"/>
          </a:xfrm>
          <a:prstGeom prst="roundRect">
            <a:avLst>
              <a:gd name="adj" fmla="val 6170"/>
            </a:avLst>
          </a:prstGeom>
          <a:solidFill>
            <a:srgbClr val="111A26"/>
          </a:solidFill>
          <a:ln/>
        </p:spPr>
      </p:sp>
      <p:sp>
        <p:nvSpPr>
          <p:cNvPr id="7" name="Text 5"/>
          <p:cNvSpPr/>
          <p:nvPr/>
        </p:nvSpPr>
        <p:spPr>
          <a:xfrm>
            <a:off x="800080" y="2864644"/>
            <a:ext cx="5143371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spc="105" kern="100" dirty="0">
                <a:solidFill>
                  <a:srgbClr val="FF3366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STANDARD CLOUD DLP (AWS MACIE / GOOGLE)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00080" y="3167063"/>
            <a:ext cx="4952876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000" spc="-20" kern="100" dirty="0">
                <a:solidFill>
                  <a:srgbClr val="F4F8FB"/>
                </a:solidFill>
                <a:latin typeface="Inter SemiBold" pitchFamily="34" charset="0"/>
                <a:ea typeface="Inter SemiBold" pitchFamily="34" charset="-122"/>
                <a:cs typeface="Inter SemiBold" pitchFamily="34" charset="0"/>
              </a:rPr>
              <a:t>CONTEXT-BLIND REDACTION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00080" y="3560763"/>
            <a:ext cx="5143371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3CEDA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Input prompt evaluated: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00080" y="3960813"/>
            <a:ext cx="50799" cy="685800"/>
          </a:xfrm>
          <a:prstGeom prst="rect">
            <a:avLst/>
          </a:prstGeom>
          <a:solidFill>
            <a:srgbClr val="FF3366"/>
          </a:solidFill>
          <a:ln/>
        </p:spPr>
      </p:sp>
      <p:sp>
        <p:nvSpPr>
          <p:cNvPr id="11" name="Text 9"/>
          <p:cNvSpPr/>
          <p:nvPr/>
        </p:nvSpPr>
        <p:spPr>
          <a:xfrm>
            <a:off x="1003275" y="4037012"/>
            <a:ext cx="4749681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3CEDA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Patient presenting with acute </a:t>
            </a:r>
            <a:pPr algn="l" indent="0" marL="0">
              <a:lnSpc>
                <a:spcPct val="125000"/>
              </a:lnSpc>
              <a:buNone/>
            </a:pPr>
            <a:r>
              <a:rPr lang="en-US" sz="1400" strike="sngStrike" dirty="0">
                <a:solidFill>
                  <a:srgbClr val="C3CEDA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[LOCATION]</a:t>
            </a:r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3CEDA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 Eye and </a:t>
            </a:r>
            <a:pPr algn="l" indent="0" marL="0">
              <a:lnSpc>
                <a:spcPct val="125000"/>
              </a:lnSpc>
              <a:buNone/>
            </a:pPr>
            <a:r>
              <a:rPr lang="en-US" sz="1400" strike="sngStrike" dirty="0">
                <a:solidFill>
                  <a:srgbClr val="C3CEDA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[LOCATION]</a:t>
            </a:r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3CEDA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 Belly. Prior history of </a:t>
            </a:r>
            <a:pPr algn="l" indent="0" marL="0">
              <a:lnSpc>
                <a:spcPct val="125000"/>
              </a:lnSpc>
              <a:buNone/>
            </a:pPr>
            <a:r>
              <a:rPr lang="en-US" sz="1400" strike="sngStrike" dirty="0">
                <a:solidFill>
                  <a:srgbClr val="C3CEDA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[LOCATION]</a:t>
            </a:r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3CEDA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 Foot.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50879" y="3960813"/>
            <a:ext cx="19050" cy="685800"/>
          </a:xfrm>
          <a:prstGeom prst="roundRect">
            <a:avLst>
              <a:gd name="adj" fmla="val 49999"/>
            </a:avLst>
          </a:prstGeom>
          <a:solidFill>
            <a:srgbClr val="00F0FF"/>
          </a:solidFill>
          <a:ln/>
        </p:spPr>
      </p:sp>
      <p:sp>
        <p:nvSpPr>
          <p:cNvPr id="13" name="Shape 11"/>
          <p:cNvSpPr/>
          <p:nvPr/>
        </p:nvSpPr>
        <p:spPr>
          <a:xfrm>
            <a:off x="800080" y="4773613"/>
            <a:ext cx="2761189" cy="214412"/>
          </a:xfrm>
          <a:prstGeom prst="roundRect">
            <a:avLst>
              <a:gd name="adj" fmla="val 49999"/>
            </a:avLst>
          </a:prstGeom>
          <a:solidFill>
            <a:srgbClr val="00484D"/>
          </a:solidFill>
          <a:ln w="6350">
            <a:solidFill>
              <a:srgbClr val="FF336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20727" y="4802780"/>
            <a:ext cx="3129480" cy="1636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00" dirty="0">
                <a:solidFill>
                  <a:srgbClr val="C3CEDA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CRITICAL CLINICAL HALLUCINATION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00080" y="5123755"/>
            <a:ext cx="4952876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8A9BAD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Standard NER strips Indian geographic terms, destroying vital clinical meaning and triggering diagnostic errors.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248244" y="2709863"/>
            <a:ext cx="5333867" cy="2963962"/>
          </a:xfrm>
          <a:prstGeom prst="roundRect">
            <a:avLst>
              <a:gd name="adj" fmla="val 6170"/>
            </a:avLst>
          </a:prstGeom>
          <a:solidFill>
            <a:srgbClr val="111A26"/>
          </a:solidFill>
          <a:ln/>
        </p:spPr>
      </p:sp>
      <p:sp>
        <p:nvSpPr>
          <p:cNvPr id="17" name="Text 15"/>
          <p:cNvSpPr/>
          <p:nvPr/>
        </p:nvSpPr>
        <p:spPr>
          <a:xfrm>
            <a:off x="6438739" y="2864644"/>
            <a:ext cx="5143371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spc="105" kern="100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MEDICLOAK DUAL-PASS WHITELIST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438739" y="3167063"/>
            <a:ext cx="4952876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000" spc="-20" kern="100" dirty="0">
                <a:solidFill>
                  <a:srgbClr val="F4F8FB"/>
                </a:solidFill>
                <a:latin typeface="Inter SemiBold" pitchFamily="34" charset="0"/>
                <a:ea typeface="Inter SemiBold" pitchFamily="34" charset="-122"/>
                <a:cs typeface="Inter SemiBold" pitchFamily="34" charset="0"/>
              </a:rPr>
              <a:t>100% MEANING PRESERVED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438739" y="3560763"/>
            <a:ext cx="5143371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3CEDA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Protected payload output: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438739" y="3960813"/>
            <a:ext cx="50799" cy="6858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1" name="Text 19"/>
          <p:cNvSpPr/>
          <p:nvPr/>
        </p:nvSpPr>
        <p:spPr>
          <a:xfrm>
            <a:off x="6641934" y="4037012"/>
            <a:ext cx="4749681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3CEDA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Patient presenting with acute </a:t>
            </a:r>
            <a:pPr algn="l"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C3CEDA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Madras Eye</a:t>
            </a:r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3CEDA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 and </a:t>
            </a:r>
            <a:pPr algn="l"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C3CEDA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Delhi Belly</a:t>
            </a:r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3CEDA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. Prior history of </a:t>
            </a:r>
            <a:pPr algn="l"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C3CEDA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Jaipur Foot</a:t>
            </a:r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3CEDA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489538" y="3960813"/>
            <a:ext cx="19050" cy="685800"/>
          </a:xfrm>
          <a:prstGeom prst="roundRect">
            <a:avLst>
              <a:gd name="adj" fmla="val 49999"/>
            </a:avLst>
          </a:prstGeom>
          <a:solidFill>
            <a:srgbClr val="00F0FF"/>
          </a:solidFill>
          <a:ln/>
        </p:spPr>
      </p:sp>
      <p:sp>
        <p:nvSpPr>
          <p:cNvPr id="23" name="Shape 21"/>
          <p:cNvSpPr/>
          <p:nvPr/>
        </p:nvSpPr>
        <p:spPr>
          <a:xfrm>
            <a:off x="6438739" y="4773613"/>
            <a:ext cx="2964086" cy="214412"/>
          </a:xfrm>
          <a:prstGeom prst="roundRect">
            <a:avLst>
              <a:gd name="adj" fmla="val 49999"/>
            </a:avLst>
          </a:prstGeom>
          <a:solidFill>
            <a:srgbClr val="00484D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59386" y="4802780"/>
            <a:ext cx="3332377" cy="1636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00" dirty="0">
                <a:solidFill>
                  <a:srgbClr val="C3CEDA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250+ REGIONAL CLINICAL TERMS SAFE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38739" y="5123755"/>
            <a:ext cx="4952876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8A9BAD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Whitelisted medical terminology retains pathology semantics while stripping actual PII identifiers.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585" y="570706"/>
            <a:ext cx="2397760" cy="214412"/>
          </a:xfrm>
          <a:prstGeom prst="roundRect">
            <a:avLst>
              <a:gd name="adj" fmla="val 49999"/>
            </a:avLst>
          </a:prstGeom>
          <a:noFill/>
          <a:ln w="635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0232" y="599874"/>
            <a:ext cx="2766050" cy="1636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00" dirty="0">
                <a:solidFill>
                  <a:srgbClr val="00F0FF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VISION SHIELD ARCHITECTURE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09585" y="901005"/>
            <a:ext cx="5430404" cy="933450"/>
          </a:xfrm>
          <a:prstGeom prst="rect">
            <a:avLst/>
          </a:prstGeom>
          <a:noFill/>
          <a:ln/>
        </p:spPr>
        <p:txBody>
          <a:bodyPr wrap="square" lIns="0" tIns="0" rIns="0" bIns="76198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000" b="1" spc="-30" kern="100" dirty="0">
                <a:solidFill>
                  <a:srgbClr val="F4F8FB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0"/>
              </a:rPr>
              <a:t>THE MULTI-MODAL REVOLUTION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09585" y="2036068"/>
            <a:ext cx="6039989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3CEDA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Shielding patient and doctor in flight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09585" y="2505968"/>
            <a:ext cx="5430404" cy="1069975"/>
          </a:xfrm>
          <a:prstGeom prst="rect">
            <a:avLst/>
          </a:prstGeom>
          <a:solidFill>
            <a:srgbClr val="111A26"/>
          </a:solidFill>
          <a:ln w="6350">
            <a:solidFill>
              <a:srgbClr val="00F0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4529" y="2743299"/>
            <a:ext cx="519546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spc="105" kern="100" dirty="0">
                <a:solidFill>
                  <a:srgbClr val="FF3366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UPPER QUADRANT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44529" y="3074293"/>
            <a:ext cx="519546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3CEDA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Patient demographics, ABHA ID and barcodes vaporized.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09585" y="3728343"/>
            <a:ext cx="5430404" cy="1336675"/>
          </a:xfrm>
          <a:prstGeom prst="rect">
            <a:avLst/>
          </a:prstGeom>
          <a:solidFill>
            <a:srgbClr val="111A26"/>
          </a:solidFill>
          <a:ln w="6350">
            <a:solidFill>
              <a:srgbClr val="00F0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44529" y="3965674"/>
            <a:ext cx="519546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spc="105" kern="100" dirty="0">
                <a:solidFill>
                  <a:srgbClr val="00F0FF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LOWER QUADRANT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44529" y="4296668"/>
            <a:ext cx="4960516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3CEDA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Doctor signature and NMC stamp masked (DPDP Act 2023, Section 8).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09585" y="5217418"/>
            <a:ext cx="5430404" cy="1069975"/>
          </a:xfrm>
          <a:prstGeom prst="rect">
            <a:avLst/>
          </a:prstGeom>
          <a:solidFill>
            <a:srgbClr val="111A26"/>
          </a:solidFill>
          <a:ln w="6350">
            <a:solidFill>
              <a:srgbClr val="00F0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4529" y="5454749"/>
            <a:ext cx="519546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spc="105" kern="100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BYTE-EXACT COM PADDING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844529" y="5785743"/>
            <a:ext cx="519546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3CEDA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JPEG padding prevents S3 checksum crashes.</a:t>
            </a:r>
            <a:endParaRPr lang="en-US" sz="1400" dirty="0"/>
          </a:p>
        </p:txBody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16248" y="609600"/>
            <a:ext cx="3865863" cy="5638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585" y="896342"/>
            <a:ext cx="2061813" cy="214412"/>
          </a:xfrm>
          <a:prstGeom prst="roundRect">
            <a:avLst>
              <a:gd name="adj" fmla="val 49999"/>
            </a:avLst>
          </a:prstGeom>
          <a:noFill/>
          <a:ln w="635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0232" y="925510"/>
            <a:ext cx="2430104" cy="1636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00" dirty="0">
                <a:solidFill>
                  <a:srgbClr val="00F0FF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ALGORITHMIC CERTAINTY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09585" y="1226641"/>
            <a:ext cx="10972526" cy="514350"/>
          </a:xfrm>
          <a:prstGeom prst="rect">
            <a:avLst/>
          </a:prstGeom>
          <a:noFill/>
          <a:ln/>
        </p:spPr>
        <p:txBody>
          <a:bodyPr wrap="none" lIns="0" tIns="0" rIns="0" bIns="76198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000" b="1" spc="-30" kern="100" dirty="0">
                <a:solidFill>
                  <a:srgbClr val="F4F8FB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0"/>
              </a:rPr>
              <a:t>ZERO FALSE POSITIVES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09585" y="1942604"/>
            <a:ext cx="1158211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3CEDA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Dihedral Group D5 Verhoeff validation.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09585" y="2731988"/>
            <a:ext cx="4206075" cy="1478855"/>
          </a:xfrm>
          <a:prstGeom prst="roundRect">
            <a:avLst>
              <a:gd name="adj" fmla="val 12366"/>
            </a:avLst>
          </a:prstGeom>
          <a:solidFill>
            <a:srgbClr val="111A26"/>
          </a:solidFill>
          <a:ln w="6350">
            <a:solidFill>
              <a:srgbClr val="00F0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6430" y="2893120"/>
            <a:ext cx="400923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spc="105" kern="100" dirty="0">
                <a:solidFill>
                  <a:srgbClr val="C3CEDA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VERHOEFF D5 CHECKSUM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06430" y="3196237"/>
            <a:ext cx="3812385" cy="3072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200" spc="-22" kern="100" dirty="0">
                <a:solidFill>
                  <a:srgbClr val="F4F8FB"/>
                </a:solidFill>
                <a:latin typeface="Inter SemiBold" pitchFamily="34" charset="0"/>
                <a:ea typeface="Inter SemiBold" pitchFamily="34" charset="-122"/>
                <a:cs typeface="Inter SemiBold" pitchFamily="34" charset="0"/>
              </a:rPr>
              <a:t>100% PRECISION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06430" y="3654425"/>
            <a:ext cx="381238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8A9BAD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No false redaction of order numbers, WBC counts or blood pressure.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09585" y="4363244"/>
            <a:ext cx="4206075" cy="1278830"/>
          </a:xfrm>
          <a:prstGeom prst="roundRect">
            <a:avLst>
              <a:gd name="adj" fmla="val 14300"/>
            </a:avLst>
          </a:prstGeom>
          <a:solidFill>
            <a:srgbClr val="111A26"/>
          </a:solidFill>
          <a:ln w="6350">
            <a:solidFill>
              <a:srgbClr val="00F0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6430" y="4524375"/>
            <a:ext cx="400923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spc="105" kern="100" dirty="0">
                <a:solidFill>
                  <a:srgbClr val="C3CEDA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ABDM &amp; ABHA NATIVE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06430" y="4827492"/>
            <a:ext cx="3812385" cy="3072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200" spc="-22" kern="100" dirty="0">
                <a:solidFill>
                  <a:srgbClr val="F4F8FB"/>
                </a:solidFill>
                <a:latin typeface="Inter SemiBold" pitchFamily="34" charset="0"/>
                <a:ea typeface="Inter SemiBold" pitchFamily="34" charset="-122"/>
                <a:cs typeface="Inter SemiBold" pitchFamily="34" charset="0"/>
              </a:rPr>
              <a:t>14-DIGIT IDS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806430" y="5285680"/>
            <a:ext cx="400923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8A9BAD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Detected in all formats in milliseconds.</a:t>
            </a:r>
            <a:endParaRPr lang="en-US" sz="105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72749" y="2412504"/>
            <a:ext cx="6309361" cy="354905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585" y="855166"/>
            <a:ext cx="1846216" cy="214412"/>
          </a:xfrm>
          <a:prstGeom prst="roundRect">
            <a:avLst>
              <a:gd name="adj" fmla="val 49999"/>
            </a:avLst>
          </a:prstGeom>
          <a:noFill/>
          <a:ln w="635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0232" y="884334"/>
            <a:ext cx="2214507" cy="1636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00" dirty="0">
                <a:solidFill>
                  <a:srgbClr val="00F0FF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AIR-TRAFFIC CONTROL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09585" y="1181084"/>
            <a:ext cx="4724282" cy="1101030"/>
          </a:xfrm>
          <a:prstGeom prst="rect">
            <a:avLst/>
          </a:prstGeom>
          <a:noFill/>
          <a:ln/>
        </p:spPr>
        <p:txBody>
          <a:bodyPr wrap="square" lIns="0" tIns="0" rIns="0" bIns="76198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400" b="1" spc="-24" kern="100" dirty="0">
                <a:solidFill>
                  <a:srgbClr val="F4F8FB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0"/>
              </a:rPr>
              <a:t>ENTERPRISE AIR-TRAFFIC CONTROL: TURNING SHADOW AI INTO AN AUDIT HIGHWAY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09585" y="2488109"/>
            <a:ext cx="4724282" cy="1069975"/>
          </a:xfrm>
          <a:prstGeom prst="rect">
            <a:avLst/>
          </a:prstGeom>
          <a:solidFill>
            <a:srgbClr val="111A26"/>
          </a:solidFill>
          <a:ln w="6350">
            <a:solidFill>
              <a:srgbClr val="00F0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4529" y="2725440"/>
            <a:ext cx="4489338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spc="105" kern="100" dirty="0">
                <a:solidFill>
                  <a:srgbClr val="C3CEDA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50+ AI PLATFORMS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44529" y="3056434"/>
            <a:ext cx="4489338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3CEDA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Governed, from ChatGPT to clinical scribes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09585" y="3710484"/>
            <a:ext cx="4724282" cy="1069975"/>
          </a:xfrm>
          <a:prstGeom prst="rect">
            <a:avLst/>
          </a:prstGeom>
          <a:solidFill>
            <a:srgbClr val="111A26"/>
          </a:solidFill>
          <a:ln w="6350">
            <a:solidFill>
              <a:srgbClr val="00F0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44529" y="3947815"/>
            <a:ext cx="4489338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spc="105" kern="100" dirty="0">
                <a:solidFill>
                  <a:srgbClr val="C3CEDA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WEBSOCKET STREAM INTERCEPT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44529" y="4278809"/>
            <a:ext cx="4489338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3CEDA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Token-by-token de-identification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09585" y="4932859"/>
            <a:ext cx="4724282" cy="1069975"/>
          </a:xfrm>
          <a:prstGeom prst="rect">
            <a:avLst/>
          </a:prstGeom>
          <a:solidFill>
            <a:srgbClr val="111A26"/>
          </a:solidFill>
          <a:ln w="6350">
            <a:solidFill>
              <a:srgbClr val="00F0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4529" y="5170190"/>
            <a:ext cx="4489338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spc="105" kern="100" dirty="0">
                <a:solidFill>
                  <a:srgbClr val="C3CEDA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1-CLICK SOC MITIGATION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44529" y="5501184"/>
            <a:ext cx="4489338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3CEDA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Audit export and voice escalation</a:t>
            </a:r>
            <a:endParaRPr lang="en-US" sz="140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7828" y="609600"/>
            <a:ext cx="4724282" cy="5638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1981"/>
            <a:ext cx="1158211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spc="105" kern="100" dirty="0">
                <a:solidFill>
                  <a:srgbClr val="00F0FF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BENCHMARK PROOF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929429"/>
            <a:ext cx="10972526" cy="542230"/>
          </a:xfrm>
          <a:prstGeom prst="rect">
            <a:avLst/>
          </a:prstGeom>
          <a:noFill/>
          <a:ln/>
        </p:spPr>
        <p:txBody>
          <a:bodyPr wrap="none" lIns="0" tIns="0" rIns="0" bIns="76198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b="1" spc="-32" kern="100" dirty="0">
                <a:solidFill>
                  <a:srgbClr val="F4F8FB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0"/>
              </a:rPr>
              <a:t>THE HARD NUMBERS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09585" y="1669355"/>
            <a:ext cx="1158211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3CEDA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Validated across 8 hospital specialties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09585" y="2139255"/>
            <a:ext cx="4206075" cy="1744960"/>
          </a:xfrm>
          <a:prstGeom prst="roundRect">
            <a:avLst>
              <a:gd name="adj" fmla="val 10480"/>
            </a:avLst>
          </a:prstGeom>
          <a:solidFill>
            <a:srgbClr val="111A26"/>
          </a:solidFill>
          <a:ln w="6350">
            <a:solidFill>
              <a:srgbClr val="00F0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6430" y="2300387"/>
            <a:ext cx="400923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spc="105" kern="100" dirty="0">
                <a:solidFill>
                  <a:srgbClr val="00F0FF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LATENCY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06430" y="2623443"/>
            <a:ext cx="3812385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3000" b="1" spc="-30" kern="100" dirty="0">
                <a:solidFill>
                  <a:srgbClr val="F4F8FB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0"/>
              </a:rPr>
              <a:t>14.2 MS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806430" y="3196530"/>
            <a:ext cx="400923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3CEDA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Overhead vs 450 ms for cloud APIs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09585" y="4036616"/>
            <a:ext cx="4206075" cy="2211784"/>
          </a:xfrm>
          <a:prstGeom prst="roundRect">
            <a:avLst>
              <a:gd name="adj" fmla="val 8268"/>
            </a:avLst>
          </a:prstGeom>
          <a:solidFill>
            <a:srgbClr val="111A26"/>
          </a:solidFill>
          <a:ln w="6350">
            <a:solidFill>
              <a:srgbClr val="00F0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6430" y="4197747"/>
            <a:ext cx="1753747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spc="105" kern="100" dirty="0">
                <a:solidFill>
                  <a:srgbClr val="00F0FF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HOSPITAL BENCHMARKS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06430" y="4720828"/>
            <a:ext cx="1753747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3000" b="1" spc="-30" kern="100" dirty="0">
                <a:solidFill>
                  <a:srgbClr val="F4F8FB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0"/>
              </a:rPr>
              <a:t>8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806430" y="5293916"/>
            <a:ext cx="1753747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3CEDA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AIIMS, Apollo, Max, Tata Memorial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864969" y="4197747"/>
            <a:ext cx="1753846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spc="105" kern="100" dirty="0">
                <a:solidFill>
                  <a:srgbClr val="00F0FF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CLIENT INSTALLS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864969" y="4520803"/>
            <a:ext cx="1753846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3000" b="1" spc="-30" kern="100" dirty="0">
                <a:solidFill>
                  <a:srgbClr val="F4F8FB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0"/>
              </a:rPr>
              <a:t>0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2864969" y="5093891"/>
            <a:ext cx="1753846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3CEDA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Network gateway only</a:t>
            </a:r>
            <a:endParaRPr lang="en-US" sz="140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72749" y="2401888"/>
            <a:ext cx="6309361" cy="3091656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5272749" y="5588000"/>
            <a:ext cx="6309361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8A9BAD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MediCloak keeps clinical meaning and is far faster. Comparison dimensions: latency, meaning retention (100% vs 42%), vision shield, doctor seal protection and deployment friction.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585" y="756146"/>
            <a:ext cx="1469691" cy="214412"/>
          </a:xfrm>
          <a:prstGeom prst="roundRect">
            <a:avLst>
              <a:gd name="adj" fmla="val 49999"/>
            </a:avLst>
          </a:prstGeom>
          <a:noFill/>
          <a:ln w="635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0232" y="785314"/>
            <a:ext cx="1837981" cy="1636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00" dirty="0">
                <a:solidFill>
                  <a:srgbClr val="00F0FF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LIVE EVALUATION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09585" y="1154007"/>
            <a:ext cx="4256973" cy="570210"/>
          </a:xfrm>
          <a:prstGeom prst="rect">
            <a:avLst/>
          </a:prstGeom>
          <a:noFill/>
          <a:ln/>
        </p:spPr>
        <p:txBody>
          <a:bodyPr wrap="none" lIns="0" tIns="0" rIns="0" bIns="76198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400" b="1" spc="-34" kern="100" dirty="0">
                <a:solidFill>
                  <a:srgbClr val="F4F8FB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0"/>
              </a:rPr>
              <a:t>REALITY, CLOAKED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09585" y="1918593"/>
            <a:ext cx="4256973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3CEDA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Let's intercept an active breach right now in real time.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09585" y="2655193"/>
            <a:ext cx="4256973" cy="1450975"/>
          </a:xfrm>
          <a:prstGeom prst="roundRect">
            <a:avLst>
              <a:gd name="adj" fmla="val 12604"/>
            </a:avLst>
          </a:prstGeom>
          <a:solidFill>
            <a:srgbClr val="111A26"/>
          </a:solidFill>
          <a:ln w="6350">
            <a:solidFill>
              <a:srgbClr val="00F0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6430" y="2816324"/>
            <a:ext cx="4060128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spc="105" kern="100" dirty="0">
                <a:solidFill>
                  <a:srgbClr val="00F0FF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TRANSPARENT GATEWAY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06430" y="3118743"/>
            <a:ext cx="3863283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000" spc="-20" kern="100" dirty="0">
                <a:solidFill>
                  <a:srgbClr val="F4F8FB"/>
                </a:solidFill>
                <a:latin typeface="Inter SemiBold" pitchFamily="34" charset="0"/>
                <a:ea typeface="Inter SemiBold" pitchFamily="34" charset="-122"/>
                <a:cs typeface="Inter SemiBold" pitchFamily="34" charset="0"/>
              </a:rPr>
              <a:t>PORT 8080 INLINE PROXY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06430" y="3549749"/>
            <a:ext cx="3863283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8A9BAD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Zero-friction deployment. Zero client reconfiguration. Intercepts in-flight browser and API packets.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09585" y="4258568"/>
            <a:ext cx="4256973" cy="1450975"/>
          </a:xfrm>
          <a:prstGeom prst="roundRect">
            <a:avLst>
              <a:gd name="adj" fmla="val 12604"/>
            </a:avLst>
          </a:prstGeom>
          <a:solidFill>
            <a:srgbClr val="111A26"/>
          </a:solidFill>
          <a:ln w="6350">
            <a:solidFill>
              <a:srgbClr val="00F0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6430" y="4419699"/>
            <a:ext cx="4060128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spc="105" kern="100" dirty="0">
                <a:solidFill>
                  <a:srgbClr val="C3CEDA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MULTI-MODAL LIVE PROMPT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06430" y="4722118"/>
            <a:ext cx="3863283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000" spc="-20" kern="100" dirty="0">
                <a:solidFill>
                  <a:srgbClr val="F4F8FB"/>
                </a:solidFill>
                <a:latin typeface="Inter SemiBold" pitchFamily="34" charset="0"/>
                <a:ea typeface="Inter SemiBold" pitchFamily="34" charset="-122"/>
                <a:cs typeface="Inter SemiBold" pitchFamily="34" charset="0"/>
              </a:rPr>
              <a:t>READY FOR ANY DOCUMENT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806430" y="5153124"/>
            <a:ext cx="3863283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8A9BAD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Upload handwritten prescriptions, Dengue CBC slips, or complex Hinglish clinical notes immediately.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09585" y="5887343"/>
            <a:ext cx="3438538" cy="214412"/>
          </a:xfrm>
          <a:prstGeom prst="roundRect">
            <a:avLst>
              <a:gd name="adj" fmla="val 49999"/>
            </a:avLst>
          </a:prstGeom>
          <a:solidFill>
            <a:srgbClr val="00484D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0232" y="5916511"/>
            <a:ext cx="3806829" cy="1636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00" dirty="0">
                <a:solidFill>
                  <a:srgbClr val="C3CEDA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SCAN TO TEST YOUR OWN HOSPITAL REPORT</a:t>
            </a:r>
            <a:endParaRPr lang="en-US" sz="110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42817" y="609600"/>
            <a:ext cx="5039293" cy="5638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2026-10-24T02:48:23Z</dcterms:created>
  <dcterms:modified xsi:type="dcterms:W3CDTF">2026-10-24T02:48:23Z</dcterms:modified>
</cp:coreProperties>
</file>