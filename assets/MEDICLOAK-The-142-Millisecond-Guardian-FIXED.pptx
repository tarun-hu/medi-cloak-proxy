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Space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Judges, every day Indian doctors paste patient notes and prescription photos into ChatGPT, and every prompt is an illegal breach; MediCloak is an invisible shield that neutralizes identity before packets leave hospital soil.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Bans don't protect privacy, they blind the CISO; the real crisis is photos of lab slips.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DLP and AWS Macie blindly redact city names in "Madras Eye" and "Jaipur Foot", the AI hallucinates; the Dual-Pass Whitelist is built for Indian clinical reality.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other tool forgets the doctor; exposing a signature and seal is a DPDP violation; we strip both and keep every diagnostic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positives fail emergency medicine; D5 Verhoeff verifies Aadhaar with 100%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CISOs get an air-traffic-control view with live threats, shadow-AI topology and one-click prompt and image diff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real workflows from AIIMS to Tata Memorial: 14.2 ms, zero installs, 100% meaning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Enough talk; on my left a doctor using ChatGPT, on my right MediCloak; I'll upload a critical report and show the cloak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484709"/>
            <a:ext cx="1741642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1513877"/>
            <a:ext cx="21099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IN-FLIGHT GUARDIAN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885494"/>
            <a:ext cx="5821614" cy="62607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b="1" spc="-38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MEDICLOAK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9585" y="2693492"/>
            <a:ext cx="58216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ZERO-TRUST IN-FLIGHT HEALTHCARE AI GOVERNANCE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3188791"/>
            <a:ext cx="5821614" cy="2184400"/>
          </a:xfrm>
          <a:prstGeom prst="roundRect">
            <a:avLst>
              <a:gd name="adj" fmla="val 8372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3347541"/>
            <a:ext cx="5427924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14.2 ms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Average in-flight scrubbing latency</a:t>
            </a:r>
            <a:endParaRPr lang="en-US" sz="140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 bytes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Unredacted data exfiltrated to AI cloud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₹250 Cr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Statutory liability neutralized (DPDPA 2023)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457" y="609600"/>
            <a:ext cx="347465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34802"/>
            <a:ext cx="1607800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663969"/>
            <a:ext cx="197609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BYPASS CRISIS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029342"/>
            <a:ext cx="4256973" cy="989211"/>
          </a:xfrm>
          <a:prstGeom prst="rect">
            <a:avLst/>
          </a:prstGeom>
          <a:noFill/>
          <a:ln/>
        </p:spPr>
        <p:txBody>
          <a:bodyPr wrap="square" lIns="0" tIns="0" rIns="0" bIns="761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32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THE SHADOW AI PARADOX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2216249"/>
            <a:ext cx="48665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Firewalls don't stop doctors, they just blind you.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635349"/>
            <a:ext cx="4256973" cy="17176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2796480"/>
            <a:ext cx="40601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DNS BAN FAILURE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6430" y="3132237"/>
            <a:ext cx="386328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b="1" spc="-38" kern="100" dirty="0">
                <a:solidFill>
                  <a:srgbClr val="C3CE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72</a:t>
            </a:r>
            <a:pPr algn="l" indent="0" marL="0">
              <a:lnSpc>
                <a:spcPct val="83000"/>
              </a:lnSpc>
              <a:buNone/>
            </a:pPr>
            <a:r>
              <a:rPr lang="en-US" sz="2000" b="1" spc="-38" kern="100" dirty="0">
                <a:solidFill>
                  <a:srgbClr val="C3CE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06430" y="3796605"/>
            <a:ext cx="38632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of clinicians bypass DNS bans; bans create unmonitored shadow channels.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585" y="4505424"/>
            <a:ext cx="4256973" cy="17176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430" y="4666555"/>
            <a:ext cx="40601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MULTI-MODAL LEAK SURGE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6430" y="5002312"/>
            <a:ext cx="386328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b="1" spc="-38" kern="100" dirty="0">
                <a:solidFill>
                  <a:srgbClr val="C3CE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60</a:t>
            </a:r>
            <a:pPr algn="l" indent="0" marL="0">
              <a:lnSpc>
                <a:spcPct val="83000"/>
              </a:lnSpc>
              <a:buNone/>
            </a:pPr>
            <a:r>
              <a:rPr lang="en-US" sz="2000" b="1" spc="-38" kern="100" dirty="0">
                <a:solidFill>
                  <a:srgbClr val="C3CE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06430" y="5666680"/>
            <a:ext cx="38632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of leaks are photos of prescriptions, biopsy scans and ECG slips.</a:t>
            </a:r>
            <a:endParaRPr lang="en-US" sz="10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817" y="609600"/>
            <a:ext cx="503929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184176"/>
            <a:ext cx="2700667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1213344"/>
            <a:ext cx="3068958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CLINICAL CONTEXT PRESERVATION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549400"/>
            <a:ext cx="10972526" cy="51435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WHY BIG TECH DLP FAILS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2265363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Naive redaction erases medical reality and causes dangerous diagnostic hallucinations.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709863"/>
            <a:ext cx="5333867" cy="2963962"/>
          </a:xfrm>
          <a:prstGeom prst="roundRect">
            <a:avLst>
              <a:gd name="adj" fmla="val 6170"/>
            </a:avLst>
          </a:prstGeom>
          <a:solidFill>
            <a:srgbClr val="111A26"/>
          </a:solidFill>
          <a:ln/>
        </p:spPr>
      </p:sp>
      <p:sp>
        <p:nvSpPr>
          <p:cNvPr id="7" name="Text 5"/>
          <p:cNvSpPr/>
          <p:nvPr/>
        </p:nvSpPr>
        <p:spPr>
          <a:xfrm>
            <a:off x="800080" y="2864644"/>
            <a:ext cx="51433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STANDARD CLOUD DLP (AWS MACIE / GOOGLE)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080" y="3167063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CONTEXT-BLIND REDACTION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0080" y="3560763"/>
            <a:ext cx="51433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Input prompt evaluated: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0080" y="3960813"/>
            <a:ext cx="50799" cy="68580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1" name="Text 9"/>
          <p:cNvSpPr/>
          <p:nvPr/>
        </p:nvSpPr>
        <p:spPr>
          <a:xfrm>
            <a:off x="1003275" y="4037012"/>
            <a:ext cx="474968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Patient presenting with acute </a:t>
            </a:r>
            <a:pPr algn="l" indent="0" marL="0">
              <a:lnSpc>
                <a:spcPct val="125000"/>
              </a:lnSpc>
              <a:buNone/>
            </a:pPr>
            <a:r>
              <a:rPr lang="en-US" sz="1400" strike="sngStrike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[LOCATION]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Eye and </a:t>
            </a:r>
            <a:pPr algn="l" indent="0" marL="0">
              <a:lnSpc>
                <a:spcPct val="125000"/>
              </a:lnSpc>
              <a:buNone/>
            </a:pPr>
            <a:r>
              <a:rPr lang="en-US" sz="1400" strike="sngStrike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[LOCATION]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Belly. Prior history of </a:t>
            </a:r>
            <a:pPr algn="l" indent="0" marL="0">
              <a:lnSpc>
                <a:spcPct val="125000"/>
              </a:lnSpc>
              <a:buNone/>
            </a:pPr>
            <a:r>
              <a:rPr lang="en-US" sz="1400" strike="sngStrike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[LOCATION]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Foot.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879" y="3960813"/>
            <a:ext cx="19050" cy="685800"/>
          </a:xfrm>
          <a:prstGeom prst="roundRect">
            <a:avLst>
              <a:gd name="adj" fmla="val 49999"/>
            </a:avLst>
          </a:prstGeom>
          <a:solidFill>
            <a:srgbClr val="00F0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0080" y="4773613"/>
            <a:ext cx="2761189" cy="214412"/>
          </a:xfrm>
          <a:prstGeom prst="roundRect">
            <a:avLst>
              <a:gd name="adj" fmla="val 49999"/>
            </a:avLst>
          </a:prstGeom>
          <a:solidFill>
            <a:srgbClr val="00484D"/>
          </a:solidFill>
          <a:ln w="6350">
            <a:solidFill>
              <a:srgbClr val="FF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727" y="4802780"/>
            <a:ext cx="312948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CRITICAL CLINICAL HALLUCINATION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0080" y="5123755"/>
            <a:ext cx="49528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Standard NER strips Indian geographic terms, destroying vital clinical meaning and triggering diagnostic errors.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48244" y="2709863"/>
            <a:ext cx="5333867" cy="2963962"/>
          </a:xfrm>
          <a:prstGeom prst="roundRect">
            <a:avLst>
              <a:gd name="adj" fmla="val 6170"/>
            </a:avLst>
          </a:prstGeom>
          <a:solidFill>
            <a:srgbClr val="111A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38739" y="2864644"/>
            <a:ext cx="51433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MEDICLOAK DUAL-PASS WHITELIST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38739" y="3167063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100% MEANING PRESERVED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38739" y="3560763"/>
            <a:ext cx="51433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Protected payload output: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38739" y="3960813"/>
            <a:ext cx="50799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641934" y="4037012"/>
            <a:ext cx="474968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Patient presenting with acute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3CED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Madras Eye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and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3CED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Delhi Belly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. Prior history of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3CED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Jaipur Foot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89538" y="3960813"/>
            <a:ext cx="19050" cy="685800"/>
          </a:xfrm>
          <a:prstGeom prst="roundRect">
            <a:avLst>
              <a:gd name="adj" fmla="val 49999"/>
            </a:avLst>
          </a:prstGeom>
          <a:solidFill>
            <a:srgbClr val="00F0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38739" y="4773613"/>
            <a:ext cx="2964086" cy="214412"/>
          </a:xfrm>
          <a:prstGeom prst="roundRect">
            <a:avLst>
              <a:gd name="adj" fmla="val 49999"/>
            </a:avLst>
          </a:prstGeom>
          <a:solidFill>
            <a:srgbClr val="00484D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9386" y="4802780"/>
            <a:ext cx="333237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250+ REGIONAL CLINICAL TERMS SAFE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38739" y="5123755"/>
            <a:ext cx="49528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Whitelisted medical terminology retains pathology semantics while stripping actual PII identifiers.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70706"/>
            <a:ext cx="2397760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599874"/>
            <a:ext cx="276605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VISION SHIELD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901005"/>
            <a:ext cx="5430404" cy="933450"/>
          </a:xfrm>
          <a:prstGeom prst="rect">
            <a:avLst/>
          </a:prstGeom>
          <a:noFill/>
          <a:ln/>
        </p:spPr>
        <p:txBody>
          <a:bodyPr wrap="square" lIns="0" tIns="0" rIns="0" bIns="761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THE MULTI-MODAL REVOLUTION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2036068"/>
            <a:ext cx="60399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Dual-Quadrant In-Flight De-Identification: Patient &amp; Clinician Shielded in RAM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505968"/>
            <a:ext cx="5430404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2743299"/>
            <a:ext cx="51954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UPPER QUADRANT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4529" y="3074293"/>
            <a:ext cx="51954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Patient demographics, ABHA ID, CR No &amp; barcodes vaporized in RAM.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3728343"/>
            <a:ext cx="5430404" cy="13366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529" y="3965674"/>
            <a:ext cx="51954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LOWER QUADRANT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4529" y="4296668"/>
            <a:ext cx="496051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Doctor signature, NMC/GMC Reg No &amp; hospital seal masked under DPDP Act 2023.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585" y="5217418"/>
            <a:ext cx="5430404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529" y="5454749"/>
            <a:ext cx="51954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BYTE-EXACT COM PADDING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4529" y="5785743"/>
            <a:ext cx="51954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Non-destructive JPEG markers eliminate AWS S3 Content-Length mismatch errors.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6248" y="609600"/>
            <a:ext cx="386586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896342"/>
            <a:ext cx="2061813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925510"/>
            <a:ext cx="2430104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ALGORITHMIC CERTAINTY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226641"/>
            <a:ext cx="10972526" cy="51435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ZERO FALSE POSITIVES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942604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Algorithmic Verification via Dihedral Group D5 Checksum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731988"/>
            <a:ext cx="4206075" cy="1478855"/>
          </a:xfrm>
          <a:prstGeom prst="roundRect">
            <a:avLst>
              <a:gd name="adj" fmla="val 12366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2893120"/>
            <a:ext cx="40092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VERHOEFF D5 CHECKSUM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6430" y="3196237"/>
            <a:ext cx="3812385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22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100% PRECISION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6430" y="3654425"/>
            <a:ext cx="38123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No false redaction of order numbers, WBC counts or blood pressure.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585" y="4363244"/>
            <a:ext cx="4206075" cy="1278830"/>
          </a:xfrm>
          <a:prstGeom prst="roundRect">
            <a:avLst>
              <a:gd name="adj" fmla="val 14300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430" y="4524375"/>
            <a:ext cx="40092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ABDM &amp; ABHA NATIVE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6430" y="4827492"/>
            <a:ext cx="3812385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22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14-DIGIT IDS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06430" y="5285680"/>
            <a:ext cx="400923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Detected in all formats in milliseconds.</a:t>
            </a:r>
            <a:endParaRPr lang="en-US" sz="10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749" y="2412504"/>
            <a:ext cx="6309361" cy="35490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855166"/>
            <a:ext cx="1846216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884334"/>
            <a:ext cx="221450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AIR-TRAFFIC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181084"/>
            <a:ext cx="4724282" cy="1101030"/>
          </a:xfrm>
          <a:prstGeom prst="rect">
            <a:avLst/>
          </a:prstGeom>
          <a:noFill/>
          <a:ln/>
        </p:spPr>
        <p:txBody>
          <a:bodyPr wrap="square" lIns="0" tIns="0" rIns="0" bIns="761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400" b="1" spc="-24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THE CISO AIR-TRAFFIC CONTROL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488109"/>
            <a:ext cx="4724282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725440"/>
            <a:ext cx="4489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50+ AI PLATFORMS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4529" y="3056434"/>
            <a:ext cx="4489338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Governed in real-time, from ChatGPT to clinical scribes.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585" y="3710484"/>
            <a:ext cx="4724282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4529" y="3947815"/>
            <a:ext cx="4489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WEBSOCKET STREAM INTERCEPT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4529" y="4278809"/>
            <a:ext cx="4489338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Token-by-token de-identification for bidirectional AI streams.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5" y="4932859"/>
            <a:ext cx="4724282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529" y="5170190"/>
            <a:ext cx="4489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1-CLICK SOC MITIGATION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4529" y="5501184"/>
            <a:ext cx="4489338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Side-by-side prompt &amp; scan diffs, audit logs &amp; voice escalation.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28" y="609600"/>
            <a:ext cx="4724282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981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BENCHMARK PROOF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429"/>
            <a:ext cx="10972526" cy="54223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32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THE HARD NUMBERS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66935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Validated across 8 hospital specialties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139255"/>
            <a:ext cx="4206075" cy="1744960"/>
          </a:xfrm>
          <a:prstGeom prst="roundRect">
            <a:avLst>
              <a:gd name="adj" fmla="val 10480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430" y="2300387"/>
            <a:ext cx="40092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LATENCY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6430" y="2623443"/>
            <a:ext cx="381238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14.2 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6430" y="3196530"/>
            <a:ext cx="400923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Overhead vs 450 ms for cloud APIs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4036616"/>
            <a:ext cx="4206075" cy="2211784"/>
          </a:xfrm>
          <a:prstGeom prst="roundRect">
            <a:avLst>
              <a:gd name="adj" fmla="val 8268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430" y="4197747"/>
            <a:ext cx="175374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HOSPITAL BENCHMARKS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6430" y="4720828"/>
            <a:ext cx="175374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6430" y="5293916"/>
            <a:ext cx="175374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AIIMS, Apollo, Max, Tata Memorial, Fortis, Medanta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64969" y="4197747"/>
            <a:ext cx="17538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CLIENT INSTALLS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64969" y="4520803"/>
            <a:ext cx="175384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864969" y="5093891"/>
            <a:ext cx="17538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Transparent Layer-7 proxy (zero endpoint software)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749" y="2401888"/>
            <a:ext cx="6309361" cy="30916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72749" y="5588000"/>
            <a:ext cx="63093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MediCloak keeps clinical meaning and is far faster. Comparison dimensions: latency, meaning retention (100% vs 42%), vision shield, doctor seal protection and deployment friction.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756146"/>
            <a:ext cx="1469691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785314"/>
            <a:ext cx="1837981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LIVE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154007"/>
            <a:ext cx="4256973" cy="57021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spc="-34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REALITY, CLOAKED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918593"/>
            <a:ext cx="425697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Let's intercept an active breach right now in real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655193"/>
            <a:ext cx="4256973" cy="1450975"/>
          </a:xfrm>
          <a:prstGeom prst="roundRect">
            <a:avLst>
              <a:gd name="adj" fmla="val 12604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2816324"/>
            <a:ext cx="40601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TRANSPARENT GATEWAY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6430" y="3118743"/>
            <a:ext cx="38632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PORT 8080 INLINE PROXY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6430" y="3549749"/>
            <a:ext cx="38632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Zero-friction deployment. Zero client reconfiguration. Intercepts in-flight browser and API packets.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585" y="4258568"/>
            <a:ext cx="4256973" cy="1450975"/>
          </a:xfrm>
          <a:prstGeom prst="roundRect">
            <a:avLst>
              <a:gd name="adj" fmla="val 12604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430" y="4419699"/>
            <a:ext cx="40601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MULTI-MODAL LIVE PROMPT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6430" y="4722118"/>
            <a:ext cx="38632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READY FOR ANY DOCUMENT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6430" y="5153124"/>
            <a:ext cx="38632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Upload handwritten prescriptions, Dengue CBC slips, or complex Hinglish clinical notes immediately.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585" y="5887343"/>
            <a:ext cx="3438538" cy="214412"/>
          </a:xfrm>
          <a:prstGeom prst="roundRect">
            <a:avLst>
              <a:gd name="adj" fmla="val 49999"/>
            </a:avLst>
          </a:prstGeom>
          <a:solidFill>
            <a:srgbClr val="00484D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232" y="5916511"/>
            <a:ext cx="380682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SCAN TO TEST YOUR OWN HOSPITAL REPORT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817" y="609600"/>
            <a:ext cx="5039293" cy="563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2026-10-24T02:48:23Z</dcterms:created>
  <dcterms:modified xsi:type="dcterms:W3CDTF">2026-10-24T02:48:23Z</dcterms:modified>
</cp:coreProperties>
</file>